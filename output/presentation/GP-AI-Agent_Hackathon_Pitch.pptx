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8f6cccdd4a4382" /><Relationship Type="http://schemas.openxmlformats.org/officeDocument/2006/relationships/extended-properties" Target="/docProps/app.xml" Id="Re53b65a494634962" /><Relationship Type="http://schemas.openxmlformats.org/officeDocument/2006/relationships/officeDocument" Target="/ppt/presentation.xml" Id="Re7546c100be640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7a0d338ac04c7b"/>
  </p:sldMasterIdLst>
  <p:notesMasterIdLst>
    <p:notesMasterId xmlns:r="http://schemas.openxmlformats.org/officeDocument/2006/relationships" r:id="R920b3dac493449c7"/>
  </p:notesMasterIdLst>
  <p:sldIdLst>
    <p:sldId xmlns:r="http://schemas.openxmlformats.org/officeDocument/2006/relationships" id="256" r:id="R305f715ea26f4768"/>
    <p:sldId xmlns:r="http://schemas.openxmlformats.org/officeDocument/2006/relationships" id="257" r:id="R6163be2277fc4f7c"/>
    <p:sldId xmlns:r="http://schemas.openxmlformats.org/officeDocument/2006/relationships" id="258" r:id="Rd20a9c429dcc4efc"/>
    <p:sldId xmlns:r="http://schemas.openxmlformats.org/officeDocument/2006/relationships" id="259" r:id="R26d9479d0e054741"/>
    <p:sldId xmlns:r="http://schemas.openxmlformats.org/officeDocument/2006/relationships" id="260" r:id="R32b0400789974a7e"/>
    <p:sldId xmlns:r="http://schemas.openxmlformats.org/officeDocument/2006/relationships" id="261" r:id="R6fe585ff1cee412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07b3d9d59a4575" /><Relationship Type="http://schemas.openxmlformats.org/officeDocument/2006/relationships/slideMaster" Target="/ppt/slideMasters/slideMaster1.xml" Id="R2f7a0d338ac04c7b" /><Relationship Type="http://schemas.openxmlformats.org/officeDocument/2006/relationships/notesMaster" Target="/ppt/notesMasters/notesMaster1.xml" Id="R920b3dac493449c7" /><Relationship Type="http://schemas.openxmlformats.org/officeDocument/2006/relationships/presProps" Target="/ppt/presProps.xml" Id="Re42754a8f77a4774" /><Relationship Type="http://schemas.openxmlformats.org/officeDocument/2006/relationships/tableStyles" Target="/ppt/tableStyles.xml" Id="R16c6a8e2f54f493d" /><Relationship Type="http://schemas.openxmlformats.org/officeDocument/2006/relationships/slide" Target="/ppt/slides/slide1.xml" Id="R305f715ea26f4768" /><Relationship Type="http://schemas.openxmlformats.org/officeDocument/2006/relationships/slide" Target="/ppt/slides/slide2.xml" Id="R6163be2277fc4f7c" /><Relationship Type="http://schemas.openxmlformats.org/officeDocument/2006/relationships/slide" Target="/ppt/slides/slide3.xml" Id="Rd20a9c429dcc4efc" /><Relationship Type="http://schemas.openxmlformats.org/officeDocument/2006/relationships/slide" Target="/ppt/slides/slide4.xml" Id="R26d9479d0e054741" /><Relationship Type="http://schemas.openxmlformats.org/officeDocument/2006/relationships/slide" Target="/ppt/slides/slide5.xml" Id="R32b0400789974a7e" /><Relationship Type="http://schemas.openxmlformats.org/officeDocument/2006/relationships/slide" Target="/ppt/slides/slide6.xml" Id="R6fe585ff1cee41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52b7b2747e45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becdb146784610" /><Relationship Type="http://schemas.openxmlformats.org/officeDocument/2006/relationships/notesMaster" Target="/ppt/notesMasters/notesMaster1.xml" Id="Rd8ab08e281944d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8ab14a66c6454a" /><Relationship Type="http://schemas.openxmlformats.org/officeDocument/2006/relationships/notesMaster" Target="/ppt/notesMasters/notesMaster1.xml" Id="Raba2b8bfd5c64a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29a79dd1ff47b9" /><Relationship Type="http://schemas.openxmlformats.org/officeDocument/2006/relationships/notesMaster" Target="/ppt/notesMasters/notesMaster1.xml" Id="R139a62161a9041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83450d3c3c4ac7" /><Relationship Type="http://schemas.openxmlformats.org/officeDocument/2006/relationships/notesMaster" Target="/ppt/notesMasters/notesMaster1.xml" Id="R92889067908f47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3518e2ca714d9b" /><Relationship Type="http://schemas.openxmlformats.org/officeDocument/2006/relationships/notesMaster" Target="/ppt/notesMasters/notesMaster1.xml" Id="R6430add5af374a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4a22612de14eb3" /><Relationship Type="http://schemas.openxmlformats.org/officeDocument/2006/relationships/notesMaster" Target="/ppt/notesMasters/notesMaster1.xml" Id="Rae97dfad446f43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68c0be2ac47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30aabdea764af3" /><Relationship Type="http://schemas.openxmlformats.org/officeDocument/2006/relationships/slideLayout" Target="/ppt/slideLayouts/slideLayout1.xml" Id="R39b9c37a531d4d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b9c37a531d4d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e0dc139384f6e" /><Relationship Type="http://schemas.openxmlformats.org/officeDocument/2006/relationships/notesSlide" Target="/ppt/notesSlides/notesSlide1.xml" Id="R805013a9cc324d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154b89ad24713" /><Relationship Type="http://schemas.openxmlformats.org/officeDocument/2006/relationships/notesSlide" Target="/ppt/notesSlides/notesSlide2.xml" Id="Re594b598349742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f37fb85c14f67" /><Relationship Type="http://schemas.openxmlformats.org/officeDocument/2006/relationships/notesSlide" Target="/ppt/notesSlides/notesSlide3.xml" Id="R7b612e86c25e42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71dd2ec33490e" /><Relationship Type="http://schemas.openxmlformats.org/officeDocument/2006/relationships/notesSlide" Target="/ppt/notesSlides/notesSlide4.xml" Id="R970346773e414e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5eac5d1aa4f3d" /><Relationship Type="http://schemas.openxmlformats.org/officeDocument/2006/relationships/notesSlide" Target="/ppt/notesSlides/notesSlide5.xml" Id="Rdcc2db21ff7145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1ca2e94dc4c9b" /><Relationship Type="http://schemas.openxmlformats.org/officeDocument/2006/relationships/notesSlide" Target="/ppt/notesSlides/notesSlide6.xml" Id="R88d04aa45f6241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A99DB3-3FA0-4338-8A1A-F9A6DDB2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E29A"/>
                </a:solidFill>
              </a:defRPr>
            </a:pPr>
            <a:r>
              <a:rPr sz="1050" b="1">
                <a:solidFill>
                  <a:srgbClr val="62E29A"/>
                </a:solidFill>
              </a:rPr>
              <a:t>AMD DEVELOPER HACKATHON  |  TRACK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6D6E2-3972-4D76-84B5-9935D7F3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5F7F4"/>
                </a:solidFill>
              </a:defRPr>
            </a:pPr>
            <a:r>
              <a:rPr sz="5550" b="1">
                <a:solidFill>
                  <a:srgbClr val="F5F7F4"/>
                </a:solidFill>
              </a:rPr>
              <a:t>GP-AI-Agent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66147-00F4-4EB4-93D6-4A9857D0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A6B1A9"/>
                </a:solidFill>
              </a:defRPr>
            </a:pPr>
            <a:r>
              <a:rPr sz="2325" b="0">
                <a:solidFill>
                  <a:srgbClr val="A6B1A9"/>
                </a:solidFill>
              </a:rPr>
              <a:t>A local-first AI agent that spends tokens only when a stronger model is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F3DF4-3596-4DBA-AD0E-5D3E4645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5095875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101A14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B0D61-D181-4D0B-9C0B-CE7E25EC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E29A"/>
                </a:solidFill>
              </a:defRPr>
            </a:pPr>
            <a:r>
              <a:rPr sz="1125" b="1">
                <a:solidFill>
                  <a:srgbClr val="62E29A"/>
                </a:solidFill>
              </a:rPr>
              <a:t>THE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E3018-7FF5-47A5-8313-2B7D90BF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6F64B"/>
                </a:solidFill>
              </a:defRPr>
            </a:pPr>
            <a:r>
              <a:rPr sz="2550" b="1">
                <a:solidFill>
                  <a:srgbClr val="B6F64B"/>
                </a:solidFill>
              </a:rPr>
              <a:t>Route locally.</a:t>
            </a:r>
          </a:p>
          <a:p xmlns:a="http://schemas.openxmlformats.org/drawingml/2006/main">
            <a:pPr algn="l">
              <a:defRPr sz="2550" b="1">
                <a:solidFill>
                  <a:srgbClr val="B6F64B"/>
                </a:solidFill>
              </a:defRPr>
            </a:pPr>
            <a:r>
              <a:rPr sz="2550" b="1">
                <a:solidFill>
                  <a:srgbClr val="B6F64B"/>
                </a:solidFill>
              </a:rPr>
              <a:t>+Escalate safely.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35F7D-C061-497A-9646-19729F57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52550"/>
            <a:ext cx="300037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5251C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39B15-920A-48B6-9084-B6FD2FED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287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4"/>
                </a:solidFill>
              </a:defRPr>
            </a:pPr>
            <a:r>
              <a:rPr sz="1725" b="1">
                <a:solidFill>
                  <a:srgbClr val="F5F7F4"/>
                </a:solidFill>
              </a:rPr>
              <a:t>Task arrives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916FB-BFA2-474E-9056-5F2EC2A6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1457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2E29A"/>
                </a:solidFill>
              </a:defRPr>
            </a:pPr>
            <a:r>
              <a:rPr sz="2550" b="1">
                <a:solidFill>
                  <a:srgbClr val="62E29A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CCDD4-1586-4ED5-BF65-57DC1B92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86075"/>
            <a:ext cx="300037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B6F64B"/>
          </a:solidFill>
          <a:ln xmlns:a="http://schemas.openxmlformats.org/drawingml/2006/main" w="9525">
            <a:solidFill>
              <a:srgbClr val="B6F6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E49C0-9066-473F-9F7A-3B79C7B0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110D"/>
                </a:solidFill>
              </a:defRPr>
            </a:pPr>
            <a:r>
              <a:rPr sz="1725" b="1">
                <a:solidFill>
                  <a:srgbClr val="09110D"/>
                </a:solidFill>
              </a:rPr>
              <a:t>Learned router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7D07D-FE42-41EF-9A3C-5C3DDE73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2E29A"/>
                </a:solidFill>
              </a:defRPr>
            </a:pPr>
            <a:r>
              <a:rPr sz="1050" b="1">
                <a:solidFill>
                  <a:srgbClr val="62E29A"/>
                </a:solidFill>
              </a:rPr>
              <a:t>LOCAL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FA67C-01FE-4C01-B4FA-19DABDBD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00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2E29A"/>
                </a:solidFill>
              </a:defRPr>
            </a:pPr>
            <a:r>
              <a:rPr sz="1050" b="1">
                <a:solidFill>
                  <a:srgbClr val="62E29A"/>
                </a:solidFill>
              </a:rPr>
              <a:t>REMOTE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4A6A3-D539-4A19-AC26-71FAE436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24375"/>
            <a:ext cx="17621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5251C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85B1A-E2B3-4280-9AE5-70BD37D5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17621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5251C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641B9-90ED-41D3-9DFC-F1A844B2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720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4"/>
                </a:solidFill>
              </a:defRPr>
            </a:pPr>
            <a:r>
              <a:rPr sz="1500" b="1">
                <a:solidFill>
                  <a:srgbClr val="F5F7F4"/>
                </a:solidFill>
              </a:rPr>
              <a:t>Local Qwen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85824-A6F5-49EA-B4D5-B6145B50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7720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4"/>
                </a:solidFill>
              </a:defRPr>
            </a:pPr>
            <a:r>
              <a:rPr sz="1500" b="1">
                <a:solidFill>
                  <a:srgbClr val="F5F7F4"/>
                </a:solidFill>
              </a:rPr>
              <a:t>Fireworks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F986C-863C-41E1-90B0-0E765F7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B1A9"/>
                </a:solidFill>
              </a:defRPr>
            </a:pPr>
            <a:r>
              <a:rPr sz="900" b="1">
                <a:solidFill>
                  <a:srgbClr val="A6B1A9"/>
                </a:solidFill>
              </a:rPr>
              <a:t>GP-AI-AGENT  /  AMD HACKATHON TRACK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336A3C-3392-4773-AE7B-21F12E4F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B1A9"/>
                </a:solidFill>
              </a:defRPr>
            </a:pPr>
            <a:r>
              <a:rPr sz="900" b="1">
                <a:solidFill>
                  <a:srgbClr val="A6B1A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35585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D96241-C06B-4932-B380-567D1E61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E29A"/>
                </a:solidFill>
              </a:defRPr>
            </a:pPr>
            <a:r>
              <a:rPr sz="1050" b="1">
                <a:solidFill>
                  <a:srgbClr val="62E29A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BC8FC-2AA5-40EB-A948-941BB195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5F7F4"/>
                </a:solidFill>
              </a:defRPr>
            </a:pPr>
            <a:r>
              <a:rPr sz="3750" b="1">
                <a:solidFill>
                  <a:srgbClr val="F5F7F4"/>
                </a:solidFill>
              </a:rPr>
              <a:t>Strong models are valuable - but using them for every task is wasteful.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33EBF-E312-43E1-BEE5-5D996869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B6F64B"/>
          </a:solidFill>
          <a:ln xmlns:a="http://schemas.openxmlformats.org/drawingml/2006/main" w="9525">
            <a:solidFill>
              <a:srgbClr val="B6F6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F6972-A810-49E5-83A5-42D48B74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110D"/>
                </a:solidFill>
              </a:defRPr>
            </a:pPr>
            <a:r>
              <a:rPr sz="1500" b="1">
                <a:solidFill>
                  <a:srgbClr val="09110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3037C-89C0-41BA-97EA-914F78F4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4371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4"/>
                </a:solidFill>
              </a:defRPr>
            </a:pPr>
            <a:r>
              <a:rPr sz="1800" b="1">
                <a:solidFill>
                  <a:srgbClr val="F5F7F4"/>
                </a:solidFill>
              </a:rPr>
              <a:t>Cost grows with every 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5EDBD-4CFC-4736-ACE8-BC39AE34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86050"/>
            <a:ext cx="4371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1A9"/>
                </a:solidFill>
              </a:defRPr>
            </a:pPr>
            <a:r>
              <a:rPr sz="1350" b="0">
                <a:solidFill>
                  <a:srgbClr val="A6B1A9"/>
                </a:solidFill>
              </a:rPr>
              <a:t>A simple question can trigger the same external-model path as a difficult coding task.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F91C4-D028-4CAC-9230-480201E7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B6F64B"/>
          </a:solidFill>
          <a:ln xmlns:a="http://schemas.openxmlformats.org/drawingml/2006/main" w="9525">
            <a:solidFill>
              <a:srgbClr val="B6F6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9CD6B-794A-413E-96E7-F0AB3522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110D"/>
                </a:solidFill>
              </a:defRPr>
            </a:pPr>
            <a:r>
              <a:rPr sz="1500" b="1">
                <a:solidFill>
                  <a:srgbClr val="09110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C07E6-2754-4870-9461-1CA149F6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71900"/>
            <a:ext cx="4371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4"/>
                </a:solidFill>
              </a:defRPr>
            </a:pPr>
            <a:r>
              <a:rPr sz="1800" b="1">
                <a:solidFill>
                  <a:srgbClr val="F5F7F4"/>
                </a:solidFill>
              </a:rPr>
              <a:t>Latency is unnecessary for safe tasks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52D1D-BDDB-4EDE-8879-7FAB7937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4371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1A9"/>
                </a:solidFill>
              </a:defRPr>
            </a:pPr>
            <a:r>
              <a:rPr sz="1350" b="0">
                <a:solidFill>
                  <a:srgbClr val="A6B1A9"/>
                </a:solidFill>
              </a:rPr>
              <a:t>Some tasks can be solved locally and verified deterministically in the container.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70B3E-63E0-41D7-B624-0494A5A8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76250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101A14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4CD31-6A67-42BB-8BB5-0D9C2D66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479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E29A"/>
                </a:solidFill>
              </a:defRPr>
            </a:pPr>
            <a:r>
              <a:rPr sz="1125" b="1">
                <a:solidFill>
                  <a:srgbClr val="62E29A"/>
                </a:solidFill>
              </a:rPr>
              <a:t>TRACK 1 CONSTRAINTS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7604E-D7FC-4507-B7A6-AF5045CF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361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4"/>
                </a:solidFill>
              </a:defRPr>
            </a:pPr>
            <a:r>
              <a:rPr sz="2100" b="1">
                <a:solidFill>
                  <a:srgbClr val="F5F7F4"/>
                </a:solidFill>
              </a:rPr>
              <a:t>4 GB RAM</a:t>
            </a:r>
          </a:p>
          <a:p xmlns:a="http://schemas.openxmlformats.org/drawingml/2006/main">
            <a:pPr algn="l">
              <a:defRPr sz="2100" b="1">
                <a:solidFill>
                  <a:srgbClr val="F5F7F4"/>
                </a:solidFill>
              </a:defRPr>
            </a:pPr>
            <a:r>
              <a:rPr sz="2100" b="1">
                <a:solidFill>
                  <a:srgbClr val="F5F7F4"/>
                </a:solidFill>
              </a:rPr>
              <a:t>2 vCPU</a:t>
            </a:r>
          </a:p>
          <a:p xmlns:a="http://schemas.openxmlformats.org/drawingml/2006/main">
            <a:pPr algn="l">
              <a:defRPr sz="2100" b="1">
                <a:solidFill>
                  <a:srgbClr val="F5F7F4"/>
                </a:solidFill>
              </a:defRPr>
            </a:pPr>
            <a:r>
              <a:rPr sz="2100" b="1">
                <a:solidFill>
                  <a:srgbClr val="F5F7F4"/>
                </a:solidFill>
              </a:rPr>
              <a:t>&lt; 10 min total 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7195A-1E87-42A6-A637-D23DD0AB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577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1A9"/>
                </a:solidFill>
              </a:defRPr>
            </a:pPr>
            <a:r>
              <a:rPr sz="1350" b="0">
                <a:solidFill>
                  <a:srgbClr val="A6B1A9"/>
                </a:solidFill>
              </a:rPr>
              <a:t>The agent must use a small local model, a disciplined budget, and a reliable fallback.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2A367-083E-4995-A728-3FADB37D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B1A9"/>
                </a:solidFill>
              </a:defRPr>
            </a:pPr>
            <a:r>
              <a:rPr sz="900" b="1">
                <a:solidFill>
                  <a:srgbClr val="A6B1A9"/>
                </a:solidFill>
              </a:rPr>
              <a:t>GP-AI-AGENT  /  AMD HACKATHON TRACK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E4E0F-794A-40EC-B986-50D543EE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B1A9"/>
                </a:solidFill>
              </a:defRPr>
            </a:pPr>
            <a:r>
              <a:rPr sz="900" b="1">
                <a:solidFill>
                  <a:srgbClr val="A6B1A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3345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C1FB71-1AD3-4F44-9462-E8DFBE8C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E29A"/>
                </a:solidFill>
              </a:defRPr>
            </a:pPr>
            <a:r>
              <a:rPr sz="1050" b="1">
                <a:solidFill>
                  <a:srgbClr val="62E29A"/>
                </a:solidFill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69A34-5CED-442F-8071-95C15886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5F7F4"/>
                </a:solidFill>
              </a:defRPr>
            </a:pPr>
            <a:r>
              <a:rPr sz="3750" b="1">
                <a:solidFill>
                  <a:srgbClr val="F5F7F4"/>
                </a:solidFill>
              </a:rPr>
              <a:t>GP-AI-Agent learns when the local path is trustworthy.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C46D9-760C-4D41-92FF-79952C5F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6B1A9"/>
                </a:solidFill>
              </a:defRPr>
            </a:pPr>
            <a:r>
              <a:rPr sz="1650" b="0">
                <a:solidFill>
                  <a:srgbClr val="A6B1A9"/>
                </a:solidFill>
              </a:rPr>
              <a:t>The router makes a free decision in the browser and container before any hosted API call.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0C3B6-6575-4D24-9765-1D75E5F0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190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1A14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37B23-0F5D-4003-8DED-1242358C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E29A"/>
                </a:solidFill>
              </a:defRPr>
            </a:pPr>
            <a:r>
              <a:rPr sz="1200" b="1">
                <a:solidFill>
                  <a:srgbClr val="62E29A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E1D53-72D5-4A64-A075-BC8E5FF5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9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4"/>
                </a:solidFill>
              </a:defRPr>
            </a:pPr>
            <a:r>
              <a:rPr sz="1950" b="1">
                <a:solidFill>
                  <a:srgbClr val="F5F7F4"/>
                </a:solidFill>
              </a:rPr>
              <a:t>Classify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B52B0-7CFB-4087-8169-297F9368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1A9"/>
                </a:solidFill>
              </a:defRPr>
            </a:pPr>
            <a:r>
              <a:rPr sz="1275" b="0">
                <a:solidFill>
                  <a:srgbClr val="A6B1A9"/>
                </a:solidFill>
              </a:rPr>
              <a:t>Prompt category and compact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E6B33-E7E0-4FA2-91E6-397E7C3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52750"/>
            <a:ext cx="2190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1A14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97628-9CEF-4532-99F2-AC35A638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81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E29A"/>
                </a:solidFill>
              </a:defRPr>
            </a:pPr>
            <a:r>
              <a:rPr sz="1200" b="1">
                <a:solidFill>
                  <a:srgbClr val="62E29A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2372A-F2E2-465D-99CA-BA20D0CC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09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4"/>
                </a:solidFill>
              </a:defRPr>
            </a:pPr>
            <a:r>
              <a:rPr sz="1950" b="1">
                <a:solidFill>
                  <a:srgbClr val="F5F7F4"/>
                </a:solidFill>
              </a:rPr>
              <a:t>Predict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DBC88-7DA3-4AA1-AFC7-19B0BC79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67175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1A9"/>
                </a:solidFill>
              </a:defRPr>
            </a:pPr>
            <a:r>
              <a:rPr sz="1275" b="0">
                <a:solidFill>
                  <a:srgbClr val="A6B1A9"/>
                </a:solidFill>
              </a:rPr>
              <a:t>Probability that local work should escalate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10DA3-1C4F-4759-9C3F-D9036124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52750"/>
            <a:ext cx="2190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1A14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0BF48-0B4F-48A0-B297-80AFB41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E29A"/>
                </a:solidFill>
              </a:defRPr>
            </a:pPr>
            <a:r>
              <a:rPr sz="1200" b="1">
                <a:solidFill>
                  <a:srgbClr val="62E29A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96AB6-329E-45D2-8A11-7C38FFEB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09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4"/>
                </a:solidFill>
              </a:defRPr>
            </a:pPr>
            <a:r>
              <a:rPr sz="1950" b="1">
                <a:solidFill>
                  <a:srgbClr val="F5F7F4"/>
                </a:solidFill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36C5D-90CC-443A-BA12-89B88CEA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67175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1A9"/>
                </a:solidFill>
              </a:defRPr>
            </a:pPr>
            <a:r>
              <a:rPr sz="1275" b="0">
                <a:solidFill>
                  <a:srgbClr val="A6B1A9"/>
                </a:solidFill>
              </a:rPr>
              <a:t>Trust local output only after checks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8D268-7E45-40A2-B8F7-73E6C80D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52750"/>
            <a:ext cx="2190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1A14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CF7CB-1197-44AE-BC1E-27EDC968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81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E29A"/>
                </a:solidFill>
              </a:defRPr>
            </a:pPr>
            <a:r>
              <a:rPr sz="1200" b="1">
                <a:solidFill>
                  <a:srgbClr val="62E29A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F1745-6014-458B-80F9-4F5353A1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9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4"/>
                </a:solidFill>
              </a:defRPr>
            </a:pPr>
            <a:r>
              <a:rPr sz="1950" b="1">
                <a:solidFill>
                  <a:srgbClr val="F5F7F4"/>
                </a:solidFill>
              </a:rPr>
              <a:t>Escalate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B0DB8-A194-42BE-A145-AA0E9BBA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67175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1A9"/>
                </a:solidFill>
              </a:defRPr>
            </a:pPr>
            <a:r>
              <a:rPr sz="1275" b="0">
                <a:solidFill>
                  <a:srgbClr val="A6B1A9"/>
                </a:solidFill>
              </a:rPr>
              <a:t>Use Fireworks only when needed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BF119B-6476-4263-9EB3-CD090F8D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0522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6F64B"/>
                </a:solidFill>
              </a:defRPr>
            </a:pPr>
            <a:r>
              <a:rPr sz="2100" b="1">
                <a:solidFill>
                  <a:srgbClr val="B6F64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F992B-8050-4A9F-BD11-A476557C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0522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6F64B"/>
                </a:solidFill>
              </a:defRPr>
            </a:pPr>
            <a:r>
              <a:rPr sz="2100" b="1">
                <a:solidFill>
                  <a:srgbClr val="B6F64B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DF89D7-E1C1-41C9-AAE2-F00178CB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0522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6F64B"/>
                </a:solidFill>
              </a:defRPr>
            </a:pPr>
            <a:r>
              <a:rPr sz="2100" b="1">
                <a:solidFill>
                  <a:srgbClr val="B6F64B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37606-042A-4E0F-B1D8-95A7E4BF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B1A9"/>
                </a:solidFill>
              </a:defRPr>
            </a:pPr>
            <a:r>
              <a:rPr sz="900" b="1">
                <a:solidFill>
                  <a:srgbClr val="A6B1A9"/>
                </a:solidFill>
              </a:rPr>
              <a:t>GP-AI-AGENT  /  AMD HACKATHON TRACK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A2C8DD-69EB-4C85-8A76-03997E05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B1A9"/>
                </a:solidFill>
              </a:defRPr>
            </a:pPr>
            <a:r>
              <a:rPr sz="900" b="1">
                <a:solidFill>
                  <a:srgbClr val="A6B1A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905673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B362BF-D7A2-477A-8F93-6A47CAC8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E29A"/>
                </a:solidFill>
              </a:defRPr>
            </a:pPr>
            <a:r>
              <a:rPr sz="1050" b="1">
                <a:solidFill>
                  <a:srgbClr val="62E29A"/>
                </a:solidFill>
              </a:rPr>
              <a:t>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E1124-874D-4E3D-B50E-5A52B721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5F7F4"/>
                </a:solidFill>
              </a:defRPr>
            </a:pPr>
            <a:r>
              <a:rPr sz="3750" b="1">
                <a:solidFill>
                  <a:srgbClr val="F5F7F4"/>
                </a:solidFill>
              </a:rPr>
              <a:t>A compact router, a local solver, and a safety gate work as one system.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4C063-DB81-48DA-82DC-305C1ED2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362325" cy="3190875"/>
          </a:xfrm>
          <a:prstGeom xmlns:a="http://schemas.openxmlformats.org/drawingml/2006/main" prst="roundRect">
            <a:avLst>
              <a:gd name="adj" fmla="val 4776"/>
            </a:avLst>
          </a:prstGeom>
          <a:solidFill xmlns:a="http://schemas.openxmlformats.org/drawingml/2006/main">
            <a:srgbClr val="101A14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642A0-208D-4194-BD7D-AACF3C40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98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E29A"/>
                </a:solidFill>
              </a:defRPr>
            </a:pPr>
            <a:r>
              <a:rPr sz="1125" b="1">
                <a:solidFill>
                  <a:srgbClr val="62E29A"/>
                </a:solidFill>
              </a:rPr>
              <a:t>01  LEARNED ROUTER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6F4FD-BB52-4A74-94FE-AA1547F9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4"/>
                </a:solidFill>
              </a:defRPr>
            </a:pPr>
            <a:r>
              <a:rPr sz="1950" b="1">
                <a:solidFill>
                  <a:srgbClr val="F5F7F4"/>
                </a:solidFill>
              </a:rPr>
              <a:t>Hashed unigram + bigram</a:t>
            </a:r>
          </a:p>
          <a:p xmlns:a="http://schemas.openxmlformats.org/drawingml/2006/main">
            <a:pPr algn="l">
              <a:defRPr sz="1950" b="1">
                <a:solidFill>
                  <a:srgbClr val="F5F7F4"/>
                </a:solidFill>
              </a:defRPr>
            </a:pPr>
            <a:r>
              <a:rPr sz="1950" b="1">
                <a:solidFill>
                  <a:srgbClr val="F5F7F4"/>
                </a:solidFill>
              </a:rPr>
              <a:t>logistic classifier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37297-96B5-4BD6-8485-906FB0BB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1A9"/>
                </a:solidFill>
              </a:defRPr>
            </a:pPr>
            <a:r>
              <a:rPr sz="1350" b="0">
                <a:solidFill>
                  <a:srgbClr val="A6B1A9"/>
                </a:solidFill>
              </a:rPr>
              <a:t>Trained from 360 measured local outcomes.</a:t>
            </a:r>
          </a:p>
          <a:p xmlns:a="http://schemas.openxmlformats.org/drawingml/2006/main">
            <a:pPr algn="l">
              <a:defRPr sz="1350" b="0">
                <a:solidFill>
                  <a:srgbClr val="A6B1A9"/>
                </a:solidFill>
              </a:defRPr>
            </a:pPr>
            <a:r>
              <a:rPr sz="1350" b="0">
                <a:solidFill>
                  <a:srgbClr val="A6B1A9"/>
                </a:solidFill>
              </a:rPr>
              <a:t>Calibrated threshold plus category policy.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1DFF2-A949-458F-A8C6-C33797C6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362325" cy="3190875"/>
          </a:xfrm>
          <a:prstGeom xmlns:a="http://schemas.openxmlformats.org/drawingml/2006/main" prst="roundRect">
            <a:avLst>
              <a:gd name="adj" fmla="val 4776"/>
            </a:avLst>
          </a:prstGeom>
          <a:solidFill xmlns:a="http://schemas.openxmlformats.org/drawingml/2006/main">
            <a:srgbClr val="101A14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32F76-243F-45FB-9805-CA13D70C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98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E29A"/>
                </a:solidFill>
              </a:defRPr>
            </a:pPr>
            <a:r>
              <a:rPr sz="1125" b="1">
                <a:solidFill>
                  <a:srgbClr val="62E29A"/>
                </a:solidFill>
              </a:rPr>
              <a:t>02  LOCAL SOLVER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2D959-672E-4D12-95DF-E88B2F0B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6702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4"/>
                </a:solidFill>
              </a:defRPr>
            </a:pPr>
            <a:r>
              <a:rPr sz="1950" b="1">
                <a:solidFill>
                  <a:srgbClr val="F5F7F4"/>
                </a:solidFill>
              </a:rPr>
              <a:t>Qwen 2.5 1.5B</a:t>
            </a:r>
          </a:p>
          <a:p xmlns:a="http://schemas.openxmlformats.org/drawingml/2006/main">
            <a:pPr algn="l">
              <a:defRPr sz="1950" b="1">
                <a:solidFill>
                  <a:srgbClr val="F5F7F4"/>
                </a:solidFill>
              </a:defRPr>
            </a:pPr>
            <a:r>
              <a:rPr sz="1950" b="1">
                <a:solidFill>
                  <a:srgbClr val="F5F7F4"/>
                </a:solidFill>
              </a:rPr>
              <a:t>Q4_K_M via llama.cpp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CE048-906A-40C8-AAE8-264D85C8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671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1A9"/>
                </a:solidFill>
              </a:defRPr>
            </a:pPr>
            <a:r>
              <a:rPr sz="1350" b="0">
                <a:solidFill>
                  <a:srgbClr val="A6B1A9"/>
                </a:solidFill>
              </a:rPr>
              <a:t>CPU-only inference sized for the 4 GB / 2 vCPU environment.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27283-1FE9-4417-8863-5A22B360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362325" cy="3190875"/>
          </a:xfrm>
          <a:prstGeom xmlns:a="http://schemas.openxmlformats.org/drawingml/2006/main" prst="roundRect">
            <a:avLst>
              <a:gd name="adj" fmla="val 4776"/>
            </a:avLst>
          </a:prstGeom>
          <a:solidFill xmlns:a="http://schemas.openxmlformats.org/drawingml/2006/main">
            <a:srgbClr val="101A14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9D01A-6FF3-4E1C-97E9-35627D6F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98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E29A"/>
                </a:solidFill>
              </a:defRPr>
            </a:pPr>
            <a:r>
              <a:rPr sz="1125" b="1">
                <a:solidFill>
                  <a:srgbClr val="62E29A"/>
                </a:solidFill>
              </a:rPr>
              <a:t>03  SAFETY + 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0DE62-243A-4E5C-8EB6-3A2FCE71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6702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4"/>
                </a:solidFill>
              </a:defRPr>
            </a:pPr>
            <a:r>
              <a:rPr sz="1950" b="1">
                <a:solidFill>
                  <a:srgbClr val="F5F7F4"/>
                </a:solidFill>
              </a:rPr>
              <a:t>Verify locally.</a:t>
            </a:r>
          </a:p>
          <a:p xmlns:a="http://schemas.openxmlformats.org/drawingml/2006/main">
            <a:pPr algn="l">
              <a:defRPr sz="1950" b="1">
                <a:solidFill>
                  <a:srgbClr val="F5F7F4"/>
                </a:solidFill>
              </a:defRPr>
            </a:pPr>
            <a:r>
              <a:rPr sz="1950" b="1">
                <a:solidFill>
                  <a:srgbClr val="F5F7F4"/>
                </a:solidFill>
              </a:rPr>
              <a:t>Escalate when needed.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76190-7D29-4D5F-8014-3CACBB4E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671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1A9"/>
                </a:solidFill>
              </a:defRPr>
            </a:pPr>
            <a:r>
              <a:rPr sz="1350" b="0">
                <a:solidFill>
                  <a:srgbClr val="A6B1A9"/>
                </a:solidFill>
              </a:rPr>
              <a:t>Arithmetic, code, logic, and format checks protect the final answer.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5ECCB-5590-469C-875D-5203A426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6F64B"/>
                </a:solidFill>
              </a:defRPr>
            </a:pPr>
            <a:r>
              <a:rPr sz="1800" b="1">
                <a:solidFill>
                  <a:srgbClr val="B6F64B"/>
                </a:solidFill>
              </a:rPr>
              <a:t>Local answers use zero Fireworks routing tokens.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BDB3B-9A6D-4D40-90BF-49B58C45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B1A9"/>
                </a:solidFill>
              </a:defRPr>
            </a:pPr>
            <a:r>
              <a:rPr sz="900" b="1">
                <a:solidFill>
                  <a:srgbClr val="A6B1A9"/>
                </a:solidFill>
              </a:rPr>
              <a:t>GP-AI-AGENT  /  AMD HACKATHON TRACK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0A0D8-B4BA-4616-A1AA-26AF37EB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B1A9"/>
                </a:solidFill>
              </a:defRPr>
            </a:pPr>
            <a:r>
              <a:rPr sz="900" b="1">
                <a:solidFill>
                  <a:srgbClr val="A6B1A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07672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4F8967-D07B-40DA-968D-278CD382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E29A"/>
                </a:solidFill>
              </a:defRPr>
            </a:pPr>
            <a:r>
              <a:rPr sz="1050" b="1">
                <a:solidFill>
                  <a:srgbClr val="62E29A"/>
                </a:solidFill>
              </a:rPr>
              <a:t>MEASURED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95566-043E-43F5-A04E-59E29445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5F7F4"/>
                </a:solidFill>
              </a:defRPr>
            </a:pPr>
            <a:r>
              <a:rPr sz="3750" b="1">
                <a:solidFill>
                  <a:srgbClr val="F5F7F4"/>
                </a:solidFill>
              </a:rPr>
              <a:t>The optimized policy cuts expected API tokens while protecting reliability.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77641-2EB5-4F7E-9B69-DFBEA257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242887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01A14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799F8-D773-4378-AC99-CA83B478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C357"/>
                </a:solidFill>
              </a:defRPr>
            </a:pPr>
            <a:r>
              <a:rPr sz="3150" b="1">
                <a:solidFill>
                  <a:srgbClr val="F6C357"/>
                </a:solidFill>
              </a:rPr>
              <a:t>9,685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7A9EA-5351-47B3-AE1A-EE249E4C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B1A9"/>
                </a:solidFill>
              </a:defRPr>
            </a:pPr>
            <a:r>
              <a:rPr sz="1200" b="1">
                <a:solidFill>
                  <a:srgbClr val="A6B1A9"/>
                </a:solidFill>
              </a:rPr>
              <a:t>previous API tokens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C7C93-DF64-438F-9DAB-3FEECA44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133600"/>
            <a:ext cx="242887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01A14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28A29-4435-4591-B641-0650B9A4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381250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6F64B"/>
                </a:solidFill>
              </a:defRPr>
            </a:pPr>
            <a:r>
              <a:rPr sz="3150" b="1">
                <a:solidFill>
                  <a:srgbClr val="B6F64B"/>
                </a:solidFill>
              </a:rPr>
              <a:t>1,824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99007-4F35-47CE-982C-FEFAD0EA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6705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B1A9"/>
                </a:solidFill>
              </a:defRPr>
            </a:pPr>
            <a:r>
              <a:rPr sz="1200" b="1">
                <a:solidFill>
                  <a:srgbClr val="A6B1A9"/>
                </a:solidFill>
              </a:rPr>
              <a:t>v11 expected API tokens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F11FD-9016-4C0D-B3BA-A26F096A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242887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01A14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07EF4-B0CB-4A4C-93A8-19DE882F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6F64B"/>
                </a:solidFill>
              </a:defRPr>
            </a:pPr>
            <a:r>
              <a:rPr sz="3150" b="1">
                <a:solidFill>
                  <a:srgbClr val="B6F64B"/>
                </a:solidFill>
              </a:rPr>
              <a:t>97.14%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8EF80-F679-4344-B58D-631F3F70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6705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B1A9"/>
                </a:solidFill>
              </a:defRPr>
            </a:pPr>
            <a:r>
              <a:rPr sz="1200" b="1">
                <a:solidFill>
                  <a:srgbClr val="A6B1A9"/>
                </a:solidFill>
              </a:rPr>
              <a:t>v11 projected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2AF4D-DF00-43E3-89CC-7D91213E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33600"/>
            <a:ext cx="3095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01A14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3CD7E-7426-46E8-8D7E-8F61C636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81250"/>
            <a:ext cx="2676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2E29A"/>
                </a:solidFill>
              </a:defRPr>
            </a:pPr>
            <a:r>
              <a:rPr sz="3150" b="1">
                <a:solidFill>
                  <a:srgbClr val="62E29A"/>
                </a:solidFill>
              </a:rPr>
              <a:t>19 / 19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EAF1E-1726-4062-A5FB-2694EB96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067050"/>
            <a:ext cx="2676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B1A9"/>
                </a:solidFill>
              </a:defRPr>
            </a:pPr>
            <a:r>
              <a:rPr sz="1200" b="1">
                <a:solidFill>
                  <a:srgbClr val="A6B1A9"/>
                </a:solidFill>
              </a:rPr>
              <a:t>rehearsal answers completed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E79F5-36A1-446A-9DEC-1E985EBE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1112520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01A14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D32FC-45CA-42D7-88CB-4EE3DFB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E29A"/>
                </a:solidFill>
              </a:defRPr>
            </a:pPr>
            <a:r>
              <a:rPr sz="1200" b="1">
                <a:solidFill>
                  <a:srgbClr val="62E29A"/>
                </a:solidFill>
              </a:rPr>
              <a:t>Validation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22985-2CDD-4B78-92F1-734E43B2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4"/>
                </a:solidFill>
              </a:defRPr>
            </a:pPr>
            <a:r>
              <a:rPr sz="1650" b="1">
                <a:solidFill>
                  <a:srgbClr val="F5F7F4"/>
                </a:solidFill>
              </a:rPr>
              <a:t>80 tasks answered in 207.4 seconds  •  45 remote calls succeeded  •  0 fallbacks  •  130 / 130 tests passing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6705D-C6BD-4763-8487-038235BC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6B1A9"/>
                </a:solidFill>
              </a:defRPr>
            </a:pPr>
            <a:r>
              <a:rPr sz="1125" b="0">
                <a:solidFill>
                  <a:srgbClr val="A6B1A9"/>
                </a:solidFill>
              </a:rPr>
              <a:t>Projected accuracy and token estimates come from the held-out router profile; rehearsal figures are measured end-to-end.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64BBE8-A329-4977-9DB7-84BB0358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B1A9"/>
                </a:solidFill>
              </a:defRPr>
            </a:pPr>
            <a:r>
              <a:rPr sz="900" b="1">
                <a:solidFill>
                  <a:srgbClr val="A6B1A9"/>
                </a:solidFill>
              </a:rPr>
              <a:t>GP-AI-AGENT  /  AMD HACKATHON TRACK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04405-0768-4079-95FB-44C585F0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B1A9"/>
                </a:solidFill>
              </a:defRPr>
            </a:pPr>
            <a:r>
              <a:rPr sz="900" b="1">
                <a:solidFill>
                  <a:srgbClr val="A6B1A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00665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23BA96-E45D-49AE-AB19-007D7AE0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E29A"/>
                </a:solidFill>
              </a:defRPr>
            </a:pPr>
            <a:r>
              <a:rPr sz="1050" b="1">
                <a:solidFill>
                  <a:srgbClr val="62E29A"/>
                </a:solidFill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22FAA-6B7A-4633-9C40-336A8F90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71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5F7F4"/>
                </a:solidFill>
              </a:defRPr>
            </a:pPr>
            <a:r>
              <a:rPr sz="4125" b="1">
                <a:solidFill>
                  <a:srgbClr val="F5F7F4"/>
                </a:solidFill>
              </a:rPr>
              <a:t>The result is a practical agent that is</a:t>
            </a:r>
          </a:p>
          <a:p xmlns:a="http://schemas.openxmlformats.org/drawingml/2006/main">
            <a:pPr algn="l">
              <a:defRPr sz="4125" b="1">
                <a:solidFill>
                  <a:srgbClr val="F5F7F4"/>
                </a:solidFill>
              </a:defRPr>
            </a:pPr>
            <a:r>
              <a:rPr sz="4125" b="1">
                <a:solidFill>
                  <a:srgbClr val="F5F7F4"/>
                </a:solidFill>
              </a:rPr>
              <a:t>fast, budget-aware, and safe by design.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3875A-47D9-4841-A4EE-5D18F39F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723900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101A14"/>
          </a:solidFill>
          <a:ln xmlns:a="http://schemas.openxmlformats.org/drawingml/2006/main" w="9525">
            <a:solidFill>
              <a:srgbClr val="3141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FEA43-D26D-4F4D-8CB3-44FCE585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E29A"/>
                </a:solidFill>
              </a:defRPr>
            </a:pPr>
            <a:r>
              <a:rPr sz="1125" b="1">
                <a:solidFill>
                  <a:srgbClr val="62E29A"/>
                </a:solidFill>
              </a:rPr>
              <a:t>LOCAL-FIRST DOES NOT MEAN LOCAL-ONLY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82DEB-BA3E-43CD-86D3-E0F49F60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6324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4"/>
                </a:solidFill>
              </a:defRPr>
            </a:pPr>
            <a:r>
              <a:rPr sz="1800" b="1">
                <a:solidFill>
                  <a:srgbClr val="F5F7F4"/>
                </a:solidFill>
              </a:rPr>
              <a:t>It means every task gets the cheapest reliable path - with a stronger model ready when the task deserves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ED521-9444-49EA-AB80-74257F21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325755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B6F64B"/>
          </a:solidFill>
          <a:ln xmlns:a="http://schemas.openxmlformats.org/drawingml/2006/main" w="9525">
            <a:solidFill>
              <a:srgbClr val="B6F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045EC-84F2-4734-9222-0E0EE066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62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9110D"/>
                </a:solidFill>
              </a:defRPr>
            </a:pPr>
            <a:r>
              <a:rPr sz="1125" b="1">
                <a:solidFill>
                  <a:srgbClr val="09110D"/>
                </a:solidFill>
              </a:rPr>
              <a:t>LIVE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72C2F-B1AF-4BA6-A588-54F0E1E9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290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9110D"/>
                </a:solidFill>
              </a:defRPr>
            </a:pPr>
            <a:r>
              <a:rPr sz="2025" b="1">
                <a:solidFill>
                  <a:srgbClr val="09110D"/>
                </a:solidFill>
              </a:rPr>
              <a:t>gp-ai-agent-1</a:t>
            </a:r>
          </a:p>
          <a:p xmlns:a="http://schemas.openxmlformats.org/drawingml/2006/main">
            <a:pPr algn="l">
              <a:defRPr sz="2025" b="1">
                <a:solidFill>
                  <a:srgbClr val="09110D"/>
                </a:solidFill>
              </a:defRPr>
            </a:pPr>
            <a:r>
              <a:rPr sz="2025" b="1">
                <a:solidFill>
                  <a:srgbClr val="09110D"/>
                </a:solidFill>
              </a:rPr>
              <a:t>.vercel.app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5320A-6FBF-4D29-A76C-07B71E51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6F64B"/>
                </a:solidFill>
              </a:defRPr>
            </a:pPr>
            <a:r>
              <a:rPr sz="2325" b="1">
                <a:solidFill>
                  <a:srgbClr val="B6F64B"/>
                </a:solidFill>
              </a:rPr>
              <a:t>Route locally. Spend only when needed.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779BC-2ACA-4030-9FDE-92F21FAC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B1A9"/>
                </a:solidFill>
              </a:defRPr>
            </a:pPr>
            <a:r>
              <a:rPr sz="900" b="1">
                <a:solidFill>
                  <a:srgbClr val="A6B1A9"/>
                </a:solidFill>
              </a:rPr>
              <a:t>GP-AI-AGENT  /  AMD HACKATHON TRACK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ABCAC-44BF-42F7-9740-5D48F5AE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B1A9"/>
                </a:solidFill>
              </a:defRPr>
            </a:pPr>
            <a:r>
              <a:rPr sz="900" b="1">
                <a:solidFill>
                  <a:srgbClr val="A6B1A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93773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2026-07-12T08:15:24.2080000Z</dcterms:created>
  <dcterms:modified xsi:type="dcterms:W3CDTF">2026-07-12T08:15:24.2080000Z</dcterms:modified>
</coreProperties>
</file>